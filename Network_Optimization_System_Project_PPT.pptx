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1" r:id="rId7"/>
    <p:sldId id="265" r:id="rId8"/>
    <p:sldId id="259" r:id="rId9"/>
    <p:sldId id="267" r:id="rId10"/>
    <p:sldId id="266" r:id="rId11"/>
    <p:sldId id="260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820" y="1155065"/>
            <a:ext cx="8825230" cy="3295650"/>
          </a:xfrm>
        </p:spPr>
        <p:txBody>
          <a:bodyPr wrap="square" lIns="109728" tIns="73152" rIns="109728"/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2D3748"/>
                </a:solidFill>
                <a:latin typeface="Microsoft YaHei" panose="020B0503020204020204" charset="-122"/>
                <a:ea typeface="Microsoft YaHei" panose="020B0503020204020204" charset="-122"/>
              </a:rPr>
              <a:t>Data Structures and Algorithms - 3 (25CS2103E)</a:t>
            </a:r>
            <a:br>
              <a:rPr sz="2000" b="1">
                <a:solidFill>
                  <a:srgbClr val="2D3748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br>
              <a:rPr sz="2000" b="1">
                <a:solidFill>
                  <a:srgbClr val="2D3748"/>
                </a:solidFill>
                <a:latin typeface="Microsoft YaHei" panose="020B0503020204020204" charset="-122"/>
                <a:ea typeface="Microsoft YaHei" panose="020B0503020204020204" charset="-122"/>
              </a:rPr>
            </a:br>
            <a:endParaRPr sz="2000" b="1">
              <a:solidFill>
                <a:srgbClr val="2D3748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Team Members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Name: </a:t>
            </a:r>
            <a:r>
              <a:rPr lang="en-US" sz="1700">
                <a:solidFill>
                  <a:srgbClr val="2D3748"/>
                </a:solidFill>
                <a:latin typeface="Aptos"/>
              </a:rPr>
              <a:t>R.Pranav suhas</a:t>
            </a:r>
            <a:r>
              <a:rPr sz="1700">
                <a:solidFill>
                  <a:srgbClr val="2D3748"/>
                </a:solidFill>
                <a:latin typeface="Aptos"/>
              </a:rPr>
              <a:t>   Roll No.: </a:t>
            </a:r>
            <a:r>
              <a:rPr lang="en-US" sz="1700">
                <a:solidFill>
                  <a:srgbClr val="2D3748"/>
                </a:solidFill>
                <a:latin typeface="Aptos"/>
              </a:rPr>
              <a:t>2520030089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Name: </a:t>
            </a:r>
            <a:r>
              <a:rPr lang="en-US" sz="1700">
                <a:solidFill>
                  <a:srgbClr val="2D3748"/>
                </a:solidFill>
                <a:latin typeface="Aptos"/>
              </a:rPr>
              <a:t>A.Gnaneshwar</a:t>
            </a:r>
            <a:r>
              <a:rPr sz="1700">
                <a:solidFill>
                  <a:srgbClr val="2D3748"/>
                </a:solidFill>
                <a:latin typeface="Aptos"/>
              </a:rPr>
              <a:t>  Roll No.: </a:t>
            </a:r>
            <a:r>
              <a:rPr lang="en-US" sz="1700">
                <a:solidFill>
                  <a:srgbClr val="2D3748"/>
                </a:solidFill>
                <a:latin typeface="Aptos"/>
              </a:rPr>
              <a:t>2520030494</a:t>
            </a:r>
            <a:br>
              <a:rPr lang="en-US" sz="1700">
                <a:solidFill>
                  <a:srgbClr val="2D3748"/>
                </a:solidFill>
                <a:latin typeface="Aptos"/>
              </a:rPr>
            </a:br>
            <a:r>
              <a:rPr sz="1700">
                <a:solidFill>
                  <a:srgbClr val="2D3748"/>
                </a:solidFill>
                <a:latin typeface="Aptos"/>
                <a:sym typeface="+mn-ea"/>
              </a:rPr>
              <a:t>Name: </a:t>
            </a:r>
            <a:r>
              <a:rPr lang="en-US" sz="1700">
                <a:solidFill>
                  <a:srgbClr val="2D3748"/>
                </a:solidFill>
                <a:latin typeface="Aptos"/>
                <a:sym typeface="+mn-ea"/>
              </a:rPr>
              <a:t>C.Ashesh</a:t>
            </a:r>
            <a:r>
              <a:rPr sz="1700">
                <a:solidFill>
                  <a:srgbClr val="2D3748"/>
                </a:solidFill>
                <a:latin typeface="Aptos"/>
                <a:sym typeface="+mn-ea"/>
              </a:rPr>
              <a:t>  Roll No.: </a:t>
            </a:r>
            <a:r>
              <a:rPr lang="en-US" sz="1700">
                <a:solidFill>
                  <a:srgbClr val="2D3748"/>
                </a:solidFill>
                <a:latin typeface="Aptos"/>
                <a:sym typeface="+mn-ea"/>
              </a:rPr>
              <a:t>2520030114</a:t>
            </a:r>
            <a:br>
              <a:rPr lang="en-US" sz="1700">
                <a:solidFill>
                  <a:srgbClr val="2D3748"/>
                </a:solidFill>
                <a:latin typeface="Aptos"/>
                <a:sym typeface="+mn-ea"/>
              </a:rPr>
            </a:br>
            <a:br>
              <a:rPr lang="en-US" sz="1700">
                <a:solidFill>
                  <a:srgbClr val="2D3748"/>
                </a:solidFill>
                <a:latin typeface="Aptos"/>
                <a:sym typeface="+mn-ea"/>
              </a:rPr>
            </a:br>
            <a:br>
              <a:rPr lang="en-US" sz="1700">
                <a:solidFill>
                  <a:srgbClr val="2D3748"/>
                </a:solidFill>
                <a:latin typeface="Aptos"/>
                <a:sym typeface="+mn-ea"/>
              </a:rPr>
            </a:b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Under the Esteemed Guidance of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2D3748"/>
                </a:solidFill>
                <a:latin typeface="Aptos"/>
              </a:rPr>
              <a:t>Dr.Anuradha</a:t>
            </a:r>
            <a:endParaRPr lang="en-US" sz="1700">
              <a:solidFill>
                <a:srgbClr val="2D3748"/>
              </a:solidFill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/>
              <a:t>Contents</a:t>
            </a:r>
            <a:endParaRPr sz="3000" b="1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10652760" cy="48006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01  Abstract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02  Introduction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03  Literature Survey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04  Problem Statement and Objectives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05  Hardware and Software Requirements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06  Flow Chart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07  Results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08  Conclusion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09  Future Scope</a:t>
            </a:r>
            <a:endParaRPr sz="15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666615" y="221615"/>
            <a:ext cx="48653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Abstract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1266190" y="2694940"/>
            <a:ext cx="10137140" cy="3431540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Network Optimization System finds the maximum possible flow from a source node to a destination node in a directed network.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It represents connections as edges with capacities and uses the Edmonds-Karp algorithm, a BFS-based implementation of Ford-Fulkerson, to find augmenting paths.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After each path is found, the system updates the residual network and continues until no further augmenting path exists.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project reports the maximum flow and minimum-cut capacity, demonstrating the Max-Flow Min-Cut theorem.</a:t>
            </a: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79215" y="193675"/>
            <a:ext cx="56527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Introduction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1293495" y="2647950"/>
            <a:ext cx="10136505" cy="3478530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A flow network is a directed graph in which each edge has a capacity that limits how much flow it can carry.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source is the starting node and the sink is the destination node. At every intermediate node, total incoming flow must equal total outgoing flow.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Maximum-flow problems arise in communication networks, transportation, supply chains, and resource allocation.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This project models a network, calculates its maximum transferable flow, and displays augmenting paths and residual capacities.</a:t>
            </a: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88740" y="193675"/>
            <a:ext cx="56432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Literature Survey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1134110" y="2507615"/>
            <a:ext cx="10295890" cy="3618865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Ford and Fulkerson introduced the augmenting-path approach for computing maximum flow in capacitated networks.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method repeatedly finds a source-to-sink path with available residual capacity and increases the flow by the path's bottleneck capacity.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Edmonds-Karp selects augmenting paths using Breadth-First Search (BFS), giving a polynomial-time bound of O(VE²).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residual network records unused forward capacity and possible reverse adjustments, allowing earlier flow choices to be revised.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This project applies these established graph algorithms in a small, interactive-style console workflow.</a:t>
            </a: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Problem Statement and Objectives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983615" y="2394585"/>
            <a:ext cx="10446385" cy="3731895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697D"/>
                </a:solidFill>
                <a:latin typeface="Aptos"/>
              </a:rPr>
              <a:t>Problem Statement</a:t>
            </a:r>
            <a:endParaRPr sz="1500" b="1">
              <a:solidFill>
                <a:srgbClr val="00697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Given a directed flow network with edge capacities, compute the greatest flow that can be sent from a specified source to a destination while obeying capacity limits and flow conservation.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697D"/>
                </a:solidFill>
                <a:latin typeface="Aptos"/>
              </a:rPr>
              <a:t>Objectives</a:t>
            </a:r>
            <a:endParaRPr sz="1500" b="1">
              <a:solidFill>
                <a:srgbClr val="00697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Represent the network using nodes, directed edges, and capacities.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Find augmenting paths with BFS and update residual capacities.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Calculate and display the maximum flow value.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Identify a minimum cut and verify that its capacity equals the maximum flow.</a:t>
            </a:r>
            <a:endParaRPr sz="15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41470" y="193675"/>
            <a:ext cx="53994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Flow Chart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48006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START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↓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Read number of nodes, edges, capacities, source and sink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↓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Initialize flow to zero and build the residual network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↓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Use BFS to search for an augmenting path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↓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Path found?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YES → Find bottleneck capacity → Update forward and reverse residual flow → Repeat BFS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NO → Output maximum flow and residual network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↓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Find source-reachable nodes in residual graph and calculate minimum cut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↓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END</a:t>
            </a:r>
            <a:endParaRPr sz="15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11370" y="193675"/>
            <a:ext cx="49206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Results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48006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Sample network: 6 nodes (0–5), 10 directed edges; source = 0 and destination = 5.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Example capacities: 0→1:16, 0→2:13, 1→3:12, 2→4:14, 3→5:20, 4→5:4, with additional connecting edges.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algorithm repeatedly discovers augmenting paths, computes each path's bottleneck, and updates the residual network.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Maximum Flow Value: 23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Minimum Cut Capacity: 23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equal values demonstrate the Max-Flow Min-Cut theorem for this sample network.</a:t>
            </a: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Hardware and Software Requirements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48006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697D"/>
                </a:solidFill>
                <a:latin typeface="Aptos"/>
              </a:rPr>
              <a:t>Hardware Requirements</a:t>
            </a:r>
            <a:endParaRPr sz="1500" b="1">
              <a:solidFill>
                <a:srgbClr val="00697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Desktop or laptop computer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Minimum 4 GB RAM recommended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Keyboard and display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697D"/>
                </a:solidFill>
                <a:latin typeface="Aptos"/>
              </a:rPr>
              <a:t>Software Requirements</a:t>
            </a:r>
            <a:endParaRPr sz="1500" b="1">
              <a:solidFill>
                <a:srgbClr val="00697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Operating System: Windows, Linux, or macOS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Programming Language: Java (JDK 8 or later)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IDE / Editor: IntelliJ IDEA, Eclipse, VS Code, or any text editor</a:t>
            </a:r>
            <a:endParaRPr sz="15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Aptos"/>
              </a:rPr>
              <a:t>• Java compiler and terminal/command prompt</a:t>
            </a:r>
            <a:endParaRPr sz="15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01845" y="187960"/>
            <a:ext cx="49301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Conclusion</a:t>
            </a:r>
            <a:endParaRPr sz="3000" b="1"/>
          </a:p>
        </p:txBody>
      </p:sp>
      <p:sp>
        <p:nvSpPr>
          <p:cNvPr id="4" name="TextBox 3"/>
          <p:cNvSpPr txBox="1"/>
          <p:nvPr/>
        </p:nvSpPr>
        <p:spPr>
          <a:xfrm>
            <a:off x="1264920" y="2620010"/>
            <a:ext cx="10165080" cy="3506470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Network Optimization System models a capacitated directed graph and computes the maximum flow between a source and a destination.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Edmonds-Karp algorithm uses BFS to find augmenting paths and residual capacities to guide each flow update.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sample network produces a maximum flow of 23 and a minimum-cut capacity of 23.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The project demonstrates graph representation, BFS, residual networks, flow conservation, and the Max-Flow Min-Cut theorem.</a:t>
            </a: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123690" y="154305"/>
            <a:ext cx="54082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000" b="1"/>
              <a:t>Future Scope</a:t>
            </a:r>
            <a:endParaRPr sz="3000" b="1"/>
          </a:p>
        </p:txBody>
      </p:sp>
      <p:sp>
        <p:nvSpPr>
          <p:cNvPr id="5" name="TextBox 4"/>
          <p:cNvSpPr txBox="1"/>
          <p:nvPr/>
        </p:nvSpPr>
        <p:spPr>
          <a:xfrm>
            <a:off x="1236980" y="2592705"/>
            <a:ext cx="10193020" cy="3533775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Add a graphical user interface for creating and editing flow networks.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Visualize each augmenting path and residual-capacity update step by step.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Allow users to save, load, and compare different network examples.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Support larger networks and improve input validation and error handling.</a:t>
            </a:r>
            <a:endParaRPr sz="1700">
              <a:solidFill>
                <a:srgbClr val="2D3748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Aptos"/>
              </a:rPr>
              <a:t>Add performance measurements and compare Edmonds-Karp with other maximum-flow algorithms.</a:t>
            </a: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667125" y="613410"/>
            <a:ext cx="7762875" cy="5513070"/>
          </a:xfrm>
          <a:prstGeom prst="rect">
            <a:avLst/>
          </a:prstGeom>
          <a:noFill/>
        </p:spPr>
        <p:txBody>
          <a:bodyPr wrap="square" lIns="109728" tIns="73152" rIns="109728" anchor="t">
            <a:noAutofit/>
          </a:bodyPr>
          <a:lstStyle/>
          <a:p>
            <a:pPr>
              <a:spcAft>
                <a:spcPts val="800"/>
              </a:spcAft>
            </a:pPr>
            <a:endParaRPr sz="1700">
              <a:solidFill>
                <a:srgbClr val="2D3748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4590</Words>
  <Application>WPS Presentation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Aptos</vt:lpstr>
      <vt:lpstr>Segoe UI</vt:lpstr>
      <vt:lpstr>Times New Roman</vt:lpstr>
      <vt:lpstr>Gautami</vt:lpstr>
      <vt:lpstr>Calibri</vt:lpstr>
      <vt:lpstr>Microsoft YaHei</vt:lpstr>
      <vt:lpstr>Arial Unicode MS</vt:lpstr>
      <vt:lpstr>Calibri Light</vt:lpstr>
      <vt:lpstr>Segoe UI Symbol</vt:lpstr>
      <vt:lpstr>Office Theme</vt:lpstr>
      <vt:lpstr>Faculty Name, Designation, Department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Pranav suhas Ravuri</cp:lastModifiedBy>
  <cp:revision>20</cp:revision>
  <dcterms:created xsi:type="dcterms:W3CDTF">2024-08-29T05:25:00Z</dcterms:created>
  <dcterms:modified xsi:type="dcterms:W3CDTF">2026-09-28T07:05:56Z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1033-12.1.0.28485</vt:lpwstr>
  </property>
</Properties>
</file>